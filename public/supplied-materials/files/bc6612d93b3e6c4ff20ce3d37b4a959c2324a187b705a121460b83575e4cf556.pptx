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OET Writing Medicine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81600"/>
          </a:xfrm>
        </p:spPr>
        <p:txBody>
          <a:bodyPr>
            <a:normAutofit fontScale="85000" lnSpcReduction="20000"/>
          </a:bodyPr>
          <a:lstStyle/>
          <a:p>
            <a:r>
              <a:rPr lang="en-US" sz="3800" b="1" u="sng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the Writing Sub-test:</a:t>
            </a:r>
          </a:p>
          <a:p>
            <a:pPr>
              <a:buNone/>
            </a:pPr>
            <a:endParaRPr lang="en-US" sz="19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Tx/>
              <a:buChar char="-"/>
            </a:pPr>
            <a:r>
              <a:rPr lang="en-US" dirty="0" smtClean="0"/>
              <a:t>The Writing sub-test takes 45 minutes</a:t>
            </a:r>
          </a:p>
          <a:p>
            <a:pPr>
              <a:buFontTx/>
              <a:buChar char="-"/>
            </a:pPr>
            <a:r>
              <a:rPr lang="en-US" dirty="0" smtClean="0"/>
              <a:t>The Writing sub-test is specific to each profession.  </a:t>
            </a:r>
          </a:p>
          <a:p>
            <a:pPr>
              <a:buFontTx/>
              <a:buChar char="-"/>
            </a:pPr>
            <a:r>
              <a:rPr lang="en-US" dirty="0" smtClean="0"/>
              <a:t>In each test, there is one task set for each profession based on a typical workplace situation and the demands of the profession.</a:t>
            </a:r>
          </a:p>
          <a:p>
            <a:pPr>
              <a:buFontTx/>
              <a:buChar char="-"/>
            </a:pPr>
            <a:r>
              <a:rPr lang="en-US" dirty="0" smtClean="0"/>
              <a:t>This sub-test requires candidates to write a letter </a:t>
            </a:r>
            <a:r>
              <a:rPr lang="en-US" smtClean="0"/>
              <a:t>of referral  </a:t>
            </a:r>
            <a:r>
              <a:rPr lang="en-US" dirty="0" smtClean="0"/>
              <a:t>based on case notes which are provided. </a:t>
            </a:r>
          </a:p>
          <a:p>
            <a:pPr>
              <a:buFontTx/>
              <a:buChar char="-"/>
            </a:pPr>
            <a:r>
              <a:rPr lang="en-US" dirty="0" smtClean="0"/>
              <a:t>Sometimes, and particularly for </a:t>
            </a:r>
            <a:r>
              <a:rPr lang="en-US" b="1" u="sng" dirty="0" smtClean="0">
                <a:solidFill>
                  <a:srgbClr val="FF0000"/>
                </a:solidFill>
              </a:rPr>
              <a:t>some professions</a:t>
            </a:r>
            <a:r>
              <a:rPr lang="en-US" dirty="0" smtClean="0"/>
              <a:t>, a different type of letter is required (e.g., a letter of transfer or discharge, or a letter to advise or inform a patient, </a:t>
            </a:r>
            <a:r>
              <a:rPr lang="en-US" dirty="0" err="1" smtClean="0"/>
              <a:t>carer</a:t>
            </a:r>
            <a:r>
              <a:rPr lang="en-US" dirty="0" smtClean="0"/>
              <a:t>, or group).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OET Writing Medicine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endParaRPr lang="en-US" sz="2700" dirty="0" smtClean="0"/>
          </a:p>
          <a:p>
            <a:pPr>
              <a:buFontTx/>
              <a:buChar char="-"/>
            </a:pPr>
            <a:r>
              <a:rPr lang="en-US" sz="2900" dirty="0" smtClean="0"/>
              <a:t>Candidates are required to write approximately </a:t>
            </a:r>
            <a:r>
              <a:rPr lang="en-US" sz="2900" b="1" dirty="0" smtClean="0"/>
              <a:t>180-200 words</a:t>
            </a:r>
            <a:r>
              <a:rPr lang="en-US" sz="2900" dirty="0" smtClean="0"/>
              <a:t> in the body of the text.</a:t>
            </a:r>
          </a:p>
          <a:p>
            <a:pPr>
              <a:buFontTx/>
              <a:buChar char="-"/>
            </a:pPr>
            <a:r>
              <a:rPr lang="en-US" sz="2900" dirty="0" smtClean="0"/>
              <a:t>The </a:t>
            </a:r>
            <a:r>
              <a:rPr lang="en-US" sz="2900" b="1" dirty="0" smtClean="0"/>
              <a:t>first five minutes </a:t>
            </a:r>
            <a:r>
              <a:rPr lang="en-US" sz="2900" dirty="0" smtClean="0"/>
              <a:t>of the test is allocated for reading time. During this time, you may study the task and notes but may not write, underline or make any notes.</a:t>
            </a:r>
          </a:p>
          <a:p>
            <a:pPr>
              <a:buFontTx/>
              <a:buChar char="-"/>
            </a:pPr>
            <a:r>
              <a:rPr lang="en-US" sz="2900" dirty="0" smtClean="0"/>
              <a:t>For the </a:t>
            </a:r>
            <a:r>
              <a:rPr lang="en-US" sz="2900" b="1" dirty="0" smtClean="0"/>
              <a:t>remaining 40 minutes </a:t>
            </a:r>
            <a:r>
              <a:rPr lang="en-US" sz="2900" dirty="0" smtClean="0"/>
              <a:t>you may write your response to the task. You receive a printed answer booklet in which you must write your response. This also has space for rough work. You may write in pen or pencil</a:t>
            </a:r>
            <a:r>
              <a:rPr lang="en-US" sz="2800" dirty="0" smtClean="0"/>
              <a:t>.</a:t>
            </a:r>
            <a:endParaRPr lang="en-US" sz="2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OET Writing Medicine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4300" b="1" u="sng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Do:</a:t>
            </a:r>
          </a:p>
          <a:p>
            <a:pPr>
              <a:buNone/>
            </a:pPr>
            <a:endParaRPr lang="en-US" sz="22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800" dirty="0" smtClean="0"/>
              <a:t>Take time to understand task requirement</a:t>
            </a:r>
          </a:p>
          <a:p>
            <a:r>
              <a:rPr lang="en-US" sz="2800" dirty="0" smtClean="0"/>
              <a:t>Use your own wards to paraphrase or summarize longer pieces of information from the case note</a:t>
            </a:r>
          </a:p>
          <a:p>
            <a:r>
              <a:rPr lang="en-US" sz="2800" dirty="0" smtClean="0"/>
              <a:t>Make sure you understand the situation described in the case note</a:t>
            </a:r>
          </a:p>
          <a:p>
            <a:r>
              <a:rPr lang="en-US" sz="2800" dirty="0" smtClean="0"/>
              <a:t>Think about how best to organize your letter before you start writing</a:t>
            </a:r>
          </a:p>
          <a:p>
            <a:r>
              <a:rPr lang="en-US" sz="2800" dirty="0" smtClean="0"/>
              <a:t>Use the space provided to plan your letter 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/>
              <a:t>Use the five minutes’ reading time effectively to understand the task set:</a:t>
            </a:r>
          </a:p>
          <a:p>
            <a:pPr>
              <a:buFontTx/>
              <a:buChar char="-"/>
            </a:pPr>
            <a:r>
              <a:rPr lang="en-US" dirty="0" smtClean="0"/>
              <a:t>What is your role?</a:t>
            </a:r>
          </a:p>
          <a:p>
            <a:pPr>
              <a:buFontTx/>
              <a:buChar char="-"/>
            </a:pPr>
            <a:r>
              <a:rPr lang="en-US" dirty="0" smtClean="0"/>
              <a:t>Who is your audience (intended reader)?</a:t>
            </a:r>
          </a:p>
          <a:p>
            <a:pPr>
              <a:buFontTx/>
              <a:buChar char="-"/>
            </a:pPr>
            <a:r>
              <a:rPr lang="en-US" dirty="0" smtClean="0"/>
              <a:t>What is the current situation?</a:t>
            </a:r>
          </a:p>
          <a:p>
            <a:pPr>
              <a:buFontTx/>
              <a:buChar char="-"/>
            </a:pPr>
            <a:r>
              <a:rPr lang="en-US" dirty="0" smtClean="0"/>
              <a:t>How urgent is the current situation?</a:t>
            </a:r>
          </a:p>
          <a:p>
            <a:pPr>
              <a:buFontTx/>
              <a:buChar char="-"/>
            </a:pPr>
            <a:r>
              <a:rPr lang="en-US" dirty="0" smtClean="0"/>
              <a:t>What is the main point you must communicate to the reader?</a:t>
            </a:r>
          </a:p>
          <a:p>
            <a:pPr>
              <a:buFontTx/>
              <a:buChar char="-"/>
            </a:pPr>
            <a:r>
              <a:rPr lang="en-US" dirty="0" smtClean="0"/>
              <a:t>What supporting information is necessary to give to the reader?</a:t>
            </a:r>
          </a:p>
          <a:p>
            <a:pPr>
              <a:buFontTx/>
              <a:buChar char="-"/>
            </a:pPr>
            <a:r>
              <a:rPr lang="en-US" dirty="0" smtClean="0"/>
              <a:t>What background information is useful to reader?</a:t>
            </a:r>
          </a:p>
          <a:p>
            <a:pPr>
              <a:buFontTx/>
              <a:buChar char="-"/>
            </a:pPr>
            <a:r>
              <a:rPr lang="en-US" dirty="0" smtClean="0"/>
              <a:t>What information is unnecessary for the reader &amp; why?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29736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Explain the current situation at the start of the letter (perhaps in an emergency situation)</a:t>
            </a:r>
          </a:p>
          <a:p>
            <a:r>
              <a:rPr lang="en-US" sz="2800" dirty="0" smtClean="0"/>
              <a:t>Use the names &amp; addresses given</a:t>
            </a:r>
          </a:p>
          <a:p>
            <a:r>
              <a:rPr lang="en-US" sz="2800" dirty="0" smtClean="0"/>
              <a:t>Set out the names, addresses, date and other information to start the letter clearly</a:t>
            </a:r>
          </a:p>
          <a:p>
            <a:r>
              <a:rPr lang="en-US" sz="2800" dirty="0" smtClean="0"/>
              <a:t>As you write, indicate each new paragraph clearly, perhaps by leaving a blank line.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OET Writing Medicine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b="1" u="sng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Don’t:</a:t>
            </a:r>
          </a:p>
          <a:p>
            <a:pPr>
              <a:buNone/>
            </a:pPr>
            <a:endParaRPr lang="en-US" sz="28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800" dirty="0" smtClean="0"/>
              <a:t>Include everything from the case note – select information relevant to the task</a:t>
            </a:r>
          </a:p>
          <a:p>
            <a:r>
              <a:rPr lang="en-US" sz="2800" dirty="0" smtClean="0"/>
              <a:t>Simply copy chunks of text from the case note</a:t>
            </a:r>
          </a:p>
          <a:p>
            <a:r>
              <a:rPr lang="en-US" sz="2800" dirty="0" smtClean="0"/>
              <a:t>Write note or numbered points 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OET Writing Medicine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5200" b="1" u="sng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Check the following at the end:</a:t>
            </a:r>
          </a:p>
          <a:p>
            <a:pPr>
              <a:buNone/>
            </a:pPr>
            <a:endParaRPr lang="en-US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 smtClean="0"/>
              <a:t>Make sure your letter communicates what you intend</a:t>
            </a:r>
          </a:p>
          <a:p>
            <a:r>
              <a:rPr lang="en-US" dirty="0" smtClean="0"/>
              <a:t>Make sure you meet the basic task requirements:</a:t>
            </a:r>
          </a:p>
          <a:p>
            <a:pPr>
              <a:buFontTx/>
              <a:buChar char="-"/>
            </a:pPr>
            <a:r>
              <a:rPr lang="en-US" dirty="0" smtClean="0"/>
              <a:t>Length of the body of the text approximately 180-200 words</a:t>
            </a:r>
          </a:p>
          <a:p>
            <a:pPr>
              <a:buFontTx/>
              <a:buChar char="-"/>
            </a:pPr>
            <a:r>
              <a:rPr lang="en-US" dirty="0" smtClean="0"/>
              <a:t>Full sentences, not note form</a:t>
            </a:r>
          </a:p>
          <a:p>
            <a:pPr>
              <a:buFontTx/>
              <a:buChar char="-"/>
            </a:pPr>
            <a:r>
              <a:rPr lang="en-US" dirty="0" smtClean="0"/>
              <a:t>Appropriate letter format</a:t>
            </a:r>
          </a:p>
          <a:p>
            <a:r>
              <a:rPr lang="en-US" dirty="0" smtClean="0"/>
              <a:t>Check for any simple Grammar or spelling error</a:t>
            </a:r>
          </a:p>
          <a:p>
            <a:r>
              <a:rPr lang="en-US" strike="sngStrike" dirty="0" smtClean="0"/>
              <a:t>Cross out </a:t>
            </a:r>
            <a:r>
              <a:rPr lang="en-US" dirty="0" smtClean="0"/>
              <a:t>clearly anything you do not want the assessor  to read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OET Writing Medicine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4000" b="1" u="sng" dirty="0" smtClean="0">
                <a:solidFill>
                  <a:srgbClr val="3333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General Instruction:</a:t>
            </a:r>
          </a:p>
          <a:p>
            <a:pPr>
              <a:buNone/>
            </a:pPr>
            <a:endParaRPr lang="en-US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 smtClean="0"/>
              <a:t>Have a spare pen and pencil ready just in case </a:t>
            </a:r>
          </a:p>
          <a:p>
            <a:r>
              <a:rPr lang="en-US" dirty="0" smtClean="0"/>
              <a:t>Fill in the cover pages for the task booklet and the answer booklet correctly </a:t>
            </a:r>
          </a:p>
          <a:p>
            <a:r>
              <a:rPr lang="en-US" dirty="0" smtClean="0"/>
              <a:t>Fill your personal information on the answers sheet correctly </a:t>
            </a:r>
          </a:p>
          <a:p>
            <a:r>
              <a:rPr lang="en-US" dirty="0" smtClean="0"/>
              <a:t>Take a sample test under test conditions beforehand so you know what it feels like</a:t>
            </a:r>
          </a:p>
          <a:p>
            <a:r>
              <a:rPr lang="en-US" dirty="0" smtClean="0"/>
              <a:t>Practice writing clearly if you have poor handwriting</a:t>
            </a:r>
          </a:p>
          <a:p>
            <a:r>
              <a:rPr lang="en-US" dirty="0" smtClean="0"/>
              <a:t>Write clearly &amp; legibly 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OET Writing Assessment Procedure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211763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 smtClean="0"/>
              <a:t>After you sit the OET Writing sub-test your sample of writing is assessed by two qualified and experienced English assessors who have been trained in OET assessment procedures</a:t>
            </a:r>
          </a:p>
          <a:p>
            <a:r>
              <a:rPr lang="en-US" sz="2800" dirty="0" smtClean="0"/>
              <a:t>Assessors give a score from 1 to 6 for each of the five criteria listed above using a detailed set of level descriptors to guide their decisions. A score of 6 is the highest for each criterion. The five criteria are equally weighted in the scoring and analysis process.</a:t>
            </a:r>
          </a:p>
          <a:p>
            <a:r>
              <a:rPr lang="en-US" sz="2800" dirty="0" smtClean="0"/>
              <a:t>Each candidate’s script is graded by two assessors independently. Neither assessor knows the scores the other assessor gives or the scores awarded to the candidate for other sub-tests.</a:t>
            </a:r>
          </a:p>
          <a:p>
            <a:r>
              <a:rPr lang="en-US" sz="2800" dirty="0" smtClean="0"/>
              <a:t>Every Writing sub-test script is assessed in Melbourne. All scripts are double marked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OET Writing Assessment Criteria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3992563"/>
          </a:xfrm>
        </p:spPr>
        <p:txBody>
          <a:bodyPr>
            <a:normAutofit/>
          </a:bodyPr>
          <a:lstStyle/>
          <a:p>
            <a:r>
              <a:rPr lang="en-US" sz="2800" dirty="0" smtClean="0"/>
              <a:t>overall task fulfillment</a:t>
            </a:r>
          </a:p>
          <a:p>
            <a:r>
              <a:rPr lang="en-US" sz="2800" dirty="0" smtClean="0"/>
              <a:t>appropriateness of language</a:t>
            </a:r>
          </a:p>
          <a:p>
            <a:r>
              <a:rPr lang="en-US" sz="2800" dirty="0" smtClean="0"/>
              <a:t>comprehension of stimulus</a:t>
            </a:r>
          </a:p>
          <a:p>
            <a:r>
              <a:rPr lang="en-US" sz="2800" dirty="0" smtClean="0"/>
              <a:t>linguistic features (grammar and cohesion) </a:t>
            </a:r>
          </a:p>
          <a:p>
            <a:r>
              <a:rPr lang="en-US" sz="2800" dirty="0" smtClean="0"/>
              <a:t>presentation features (spelling, presentation, layout).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 smtClean="0">
                <a:solidFill>
                  <a:srgbClr val="3333FF"/>
                </a:solidFill>
              </a:rPr>
              <a:t>Overall task fulfillment</a:t>
            </a:r>
            <a:endParaRPr lang="en-US" sz="4000" b="1" dirty="0">
              <a:solidFill>
                <a:srgbClr val="3333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/>
              <a:t>Write enough </a:t>
            </a:r>
            <a:r>
              <a:rPr lang="en-US" dirty="0" smtClean="0"/>
              <a:t>so the assessors have a sufficient sample of your writing – the task requires approximately 180-200 words in the body of the letter</a:t>
            </a:r>
          </a:p>
          <a:p>
            <a:r>
              <a:rPr lang="en-US" b="1" dirty="0" smtClean="0"/>
              <a:t>Don’t write too much </a:t>
            </a:r>
            <a:r>
              <a:rPr lang="en-US" dirty="0" smtClean="0"/>
              <a:t>– you may need to select content carefully to keep to the required word count</a:t>
            </a:r>
          </a:p>
          <a:p>
            <a:r>
              <a:rPr lang="en-US" b="1" dirty="0" smtClean="0"/>
              <a:t>Use your own words </a:t>
            </a:r>
            <a:r>
              <a:rPr lang="en-US" dirty="0" smtClean="0"/>
              <a:t>as much as possible – don’t simply copy sections from the case notes</a:t>
            </a:r>
          </a:p>
          <a:p>
            <a:r>
              <a:rPr lang="en-US" b="1" dirty="0" smtClean="0"/>
              <a:t>Avoid using a ‘formulaic’ response </a:t>
            </a:r>
            <a:r>
              <a:rPr lang="en-US" dirty="0" smtClean="0"/>
              <a:t>– if you include elements that do not fit the task, it indicates a lack of flexibility in your writing</a:t>
            </a:r>
          </a:p>
          <a:p>
            <a:r>
              <a:rPr lang="en-US" b="1" dirty="0" smtClean="0"/>
              <a:t>Don’t include information that the intended reader clearly knows already </a:t>
            </a:r>
            <a:r>
              <a:rPr lang="en-US" dirty="0" smtClean="0"/>
              <a:t>(e.g., if you are replying to a colleague who has referred a patient to you)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 smtClean="0">
                <a:solidFill>
                  <a:srgbClr val="3333FF"/>
                </a:solidFill>
              </a:rPr>
              <a:t>Appropriateness of language</a:t>
            </a:r>
            <a:endParaRPr lang="en-US" sz="4000" b="1" dirty="0">
              <a:solidFill>
                <a:srgbClr val="3333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410200"/>
          </a:xfrm>
        </p:spPr>
        <p:txBody>
          <a:bodyPr>
            <a:normAutofit fontScale="62500" lnSpcReduction="20000"/>
          </a:bodyPr>
          <a:lstStyle/>
          <a:p>
            <a:r>
              <a:rPr lang="en-US" sz="4500" b="1" dirty="0" smtClean="0"/>
              <a:t>Organize the information clearly </a:t>
            </a:r>
            <a:r>
              <a:rPr lang="en-US" sz="4500" dirty="0" smtClean="0"/>
              <a:t>– the sequence of information in the case notes may not be the most appropriate sequence of information for your letter</a:t>
            </a:r>
          </a:p>
          <a:p>
            <a:r>
              <a:rPr lang="en-US" sz="4500" b="1" dirty="0" smtClean="0"/>
              <a:t>Highlight the main purpose of your letter at the start </a:t>
            </a:r>
            <a:r>
              <a:rPr lang="en-US" sz="4500" dirty="0" smtClean="0"/>
              <a:t>– this provides the context for the information you include</a:t>
            </a:r>
          </a:p>
          <a:p>
            <a:r>
              <a:rPr lang="en-US" sz="4500" b="1" dirty="0" smtClean="0"/>
              <a:t>Be clear about the level of urgency </a:t>
            </a:r>
            <a:r>
              <a:rPr lang="en-US" sz="4500" dirty="0" smtClean="0"/>
              <a:t>for the communication</a:t>
            </a:r>
          </a:p>
          <a:p>
            <a:r>
              <a:rPr lang="en-US" sz="4500" b="1" dirty="0" smtClean="0"/>
              <a:t>Always keep in mind the reason for writing </a:t>
            </a:r>
            <a:r>
              <a:rPr lang="en-US" sz="4500" dirty="0" smtClean="0"/>
              <a:t>– don’t just summarize the case notes provided</a:t>
            </a:r>
          </a:p>
          <a:p>
            <a:r>
              <a:rPr lang="en-US" sz="4400" b="1" dirty="0" smtClean="0"/>
              <a:t>Consider using dates and other time references </a:t>
            </a:r>
            <a:r>
              <a:rPr lang="en-US" sz="4400" dirty="0" smtClean="0"/>
              <a:t>(e.g., three months later, last week, a year ago) to give a clear sequence of events where necessary</a:t>
            </a:r>
            <a:endParaRPr lang="en-US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 smtClean="0">
                <a:solidFill>
                  <a:srgbClr val="3333FF"/>
                </a:solidFill>
              </a:rPr>
              <a:t>Appropriateness of language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059363"/>
          </a:xfrm>
        </p:spPr>
        <p:txBody>
          <a:bodyPr>
            <a:normAutofit lnSpcReduction="10000"/>
          </a:bodyPr>
          <a:lstStyle/>
          <a:p>
            <a:r>
              <a:rPr lang="en-US" sz="2800" b="1" dirty="0" smtClean="0"/>
              <a:t>Focus on important information </a:t>
            </a:r>
            <a:r>
              <a:rPr lang="en-US" sz="2800" dirty="0" smtClean="0"/>
              <a:t>and minimize incidental detail</a:t>
            </a:r>
          </a:p>
          <a:p>
            <a:r>
              <a:rPr lang="en-US" sz="2800" dirty="0" smtClean="0"/>
              <a:t>Remember that all professional letters are written in a relatively </a:t>
            </a:r>
            <a:r>
              <a:rPr lang="en-US" sz="2800" b="1" dirty="0" smtClean="0"/>
              <a:t>formal style</a:t>
            </a:r>
          </a:p>
          <a:p>
            <a:r>
              <a:rPr lang="en-US" sz="2800" b="1" dirty="0" smtClean="0"/>
              <a:t>Avoid informal language</a:t>
            </a:r>
            <a:r>
              <a:rPr lang="en-US" sz="2800" dirty="0" smtClean="0"/>
              <a:t>, slang, colloquialisms and spoken idiom unless you are sure this is appropriate (e.g., use ‘Thank you’ rather than ‘Thanks a lot’)</a:t>
            </a:r>
          </a:p>
          <a:p>
            <a:r>
              <a:rPr lang="en-US" sz="2800" b="1" dirty="0" smtClean="0"/>
              <a:t>Avoid SMS texting abbreviations </a:t>
            </a:r>
            <a:r>
              <a:rPr lang="en-US" sz="2800" dirty="0" smtClean="0"/>
              <a:t>in a formal letter (e.g., use ‘you’ not ‘u’)</a:t>
            </a:r>
          </a:p>
          <a:p>
            <a:r>
              <a:rPr lang="en-US" sz="2800" b="1" dirty="0" smtClean="0"/>
              <a:t>Give the correct salutation</a:t>
            </a:r>
            <a:r>
              <a:rPr lang="en-US" sz="2800" dirty="0" smtClean="0"/>
              <a:t>: if you are told the recipient’s name and title, use them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 smtClean="0">
                <a:solidFill>
                  <a:srgbClr val="3333FF"/>
                </a:solidFill>
              </a:rPr>
              <a:t>Comprehension of stimulus</a:t>
            </a:r>
            <a:endParaRPr lang="en-US" sz="4000" b="1" dirty="0">
              <a:solidFill>
                <a:srgbClr val="3333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Demonstrate in your response that you have </a:t>
            </a:r>
            <a:r>
              <a:rPr lang="en-US" b="1" dirty="0" smtClean="0"/>
              <a:t>understood the case notes fully</a:t>
            </a:r>
          </a:p>
          <a:p>
            <a:r>
              <a:rPr lang="en-US" dirty="0" smtClean="0"/>
              <a:t>Be clear what </a:t>
            </a:r>
            <a:r>
              <a:rPr lang="en-US" b="1" dirty="0" smtClean="0"/>
              <a:t>the most relevant issues </a:t>
            </a:r>
            <a:r>
              <a:rPr lang="en-US" dirty="0" smtClean="0"/>
              <a:t>for the reader are</a:t>
            </a:r>
          </a:p>
          <a:p>
            <a:r>
              <a:rPr lang="en-US" dirty="0" smtClean="0"/>
              <a:t>Show clearly </a:t>
            </a:r>
            <a:r>
              <a:rPr lang="en-US" b="1" dirty="0" smtClean="0"/>
              <a:t>the connections </a:t>
            </a:r>
            <a:r>
              <a:rPr lang="en-US" dirty="0" smtClean="0"/>
              <a:t>between information in the case notes if these are made; however, </a:t>
            </a:r>
            <a:r>
              <a:rPr lang="en-US" b="1" dirty="0" smtClean="0"/>
              <a:t>do not add information that is not given in the notes </a:t>
            </a:r>
            <a:r>
              <a:rPr lang="en-US" dirty="0" smtClean="0"/>
              <a:t>(e.g., a suggested diagnosis) </a:t>
            </a:r>
          </a:p>
          <a:p>
            <a:r>
              <a:rPr lang="en-US" dirty="0" smtClean="0"/>
              <a:t>Take </a:t>
            </a:r>
            <a:r>
              <a:rPr lang="en-US" b="1" dirty="0" smtClean="0"/>
              <a:t>relevant information from the case notes</a:t>
            </a:r>
            <a:r>
              <a:rPr lang="en-US" dirty="0" smtClean="0"/>
              <a:t> and transform it to fit the task set</a:t>
            </a:r>
          </a:p>
          <a:p>
            <a:r>
              <a:rPr lang="en-US" b="1" dirty="0" smtClean="0"/>
              <a:t>Don’t simply try to include every piece of information </a:t>
            </a:r>
            <a:r>
              <a:rPr lang="en-US" dirty="0" smtClean="0"/>
              <a:t>from the case notes in your letter in the same order it is presented in the case notes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Autofit/>
          </a:bodyPr>
          <a:lstStyle/>
          <a:p>
            <a:pPr algn="l"/>
            <a:r>
              <a:rPr lang="en-US" sz="3600" b="1" dirty="0" smtClean="0">
                <a:solidFill>
                  <a:srgbClr val="3333FF"/>
                </a:solidFill>
              </a:rPr>
              <a:t>Control of linguistic features (grammar and cohesion)</a:t>
            </a:r>
            <a:endParaRPr lang="en-US" sz="3600" b="1" dirty="0">
              <a:solidFill>
                <a:srgbClr val="3333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876800"/>
          </a:xfrm>
        </p:spPr>
        <p:txBody>
          <a:bodyPr>
            <a:noAutofit/>
          </a:bodyPr>
          <a:lstStyle/>
          <a:p>
            <a:r>
              <a:rPr lang="en-US" sz="2600" dirty="0" smtClean="0"/>
              <a:t>Show that you </a:t>
            </a:r>
            <a:r>
              <a:rPr lang="en-US" sz="2600" b="1" dirty="0" smtClean="0"/>
              <a:t>can use language accurately and flexibly </a:t>
            </a:r>
            <a:r>
              <a:rPr lang="en-US" sz="2600" dirty="0" err="1" smtClean="0"/>
              <a:t>i</a:t>
            </a:r>
            <a:endParaRPr lang="en-US" sz="2600" dirty="0" smtClean="0"/>
          </a:p>
          <a:p>
            <a:r>
              <a:rPr lang="en-US" sz="2600" dirty="0" smtClean="0"/>
              <a:t>Make sure you </a:t>
            </a:r>
            <a:r>
              <a:rPr lang="en-US" sz="2600" b="1" dirty="0" smtClean="0"/>
              <a:t>demonstrate a range of language structures </a:t>
            </a:r>
            <a:r>
              <a:rPr lang="en-US" sz="2600" dirty="0" smtClean="0"/>
              <a:t>– use complex sentences as well as simple ones</a:t>
            </a:r>
          </a:p>
          <a:p>
            <a:r>
              <a:rPr lang="en-US" sz="2600" b="1" dirty="0" smtClean="0"/>
              <a:t>Split a long sentence </a:t>
            </a:r>
            <a:r>
              <a:rPr lang="en-US" sz="2600" dirty="0" smtClean="0"/>
              <a:t>into two or three sentences if you feel you are losing control of it</a:t>
            </a:r>
          </a:p>
          <a:p>
            <a:r>
              <a:rPr lang="en-US" sz="2600" dirty="0" smtClean="0"/>
              <a:t>Review areas of grammar to ensure you convey your intended meaning accurately:</a:t>
            </a:r>
          </a:p>
          <a:p>
            <a:pPr>
              <a:buFontTx/>
              <a:buChar char="-"/>
            </a:pPr>
            <a:r>
              <a:rPr lang="en-US" sz="2600" b="1" u="sng" dirty="0" smtClean="0"/>
              <a:t>articles </a:t>
            </a:r>
            <a:r>
              <a:rPr lang="en-US" sz="2600" dirty="0" smtClean="0"/>
              <a:t>– a/an, the (e.g., ‘She had an operation.’, ‘on the internet’)</a:t>
            </a:r>
          </a:p>
          <a:p>
            <a:pPr>
              <a:buFontTx/>
              <a:buChar char="-"/>
            </a:pPr>
            <a:r>
              <a:rPr lang="en-US" sz="2600" b="1" u="sng" dirty="0" smtClean="0"/>
              <a:t>countable</a:t>
            </a:r>
            <a:r>
              <a:rPr lang="en-US" sz="2600" b="1" dirty="0" smtClean="0"/>
              <a:t> and </a:t>
            </a:r>
            <a:r>
              <a:rPr lang="en-US" sz="2600" b="1" u="sng" dirty="0" smtClean="0"/>
              <a:t>uncountable nouns </a:t>
            </a:r>
            <a:r>
              <a:rPr lang="en-US" sz="2600" dirty="0" smtClean="0"/>
              <a:t>(e.g., some evidence, an opinion)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85000" lnSpcReduction="20000"/>
          </a:bodyPr>
          <a:lstStyle/>
          <a:p>
            <a:pPr>
              <a:buFontTx/>
              <a:buChar char="-"/>
            </a:pPr>
            <a:r>
              <a:rPr lang="en-US" b="1" u="sng" dirty="0" smtClean="0"/>
              <a:t>verb forms </a:t>
            </a:r>
            <a:r>
              <a:rPr lang="en-US" dirty="0" smtClean="0"/>
              <a:t>used to indicate past time and the relationship between events in the past and now (past simple, present perfect, past perfect)</a:t>
            </a:r>
          </a:p>
          <a:p>
            <a:pPr>
              <a:buFontTx/>
              <a:buChar char="-"/>
            </a:pPr>
            <a:r>
              <a:rPr lang="en-US" b="1" u="sng" dirty="0" smtClean="0"/>
              <a:t>adverbs that give time references </a:t>
            </a:r>
            <a:r>
              <a:rPr lang="en-US" dirty="0" smtClean="0"/>
              <a:t>(e.g., ‘two months previously’ is different from ‘two months ago’)</a:t>
            </a:r>
          </a:p>
          <a:p>
            <a:pPr>
              <a:buFontTx/>
              <a:buChar char="-"/>
            </a:pPr>
            <a:r>
              <a:rPr lang="en-US" b="1" u="sng" dirty="0" smtClean="0"/>
              <a:t>prepositions</a:t>
            </a:r>
            <a:r>
              <a:rPr lang="en-US" dirty="0" smtClean="0"/>
              <a:t> following other words (e.g., ‘Thank you very much to see for seeing …’, ‘sensitivity of to pressure’, ‘my examination on of the patient’, ‘diagnosed with cancer’)</a:t>
            </a:r>
          </a:p>
          <a:p>
            <a:pPr>
              <a:buFontTx/>
              <a:buChar char="-"/>
            </a:pPr>
            <a:r>
              <a:rPr lang="en-US" b="1" u="sng" dirty="0" smtClean="0"/>
              <a:t>passive forms </a:t>
            </a:r>
            <a:r>
              <a:rPr lang="en-US" dirty="0" smtClean="0"/>
              <a:t>(e.g., ‘The patient should advised to relax’, ‘He involved in an accident.’ for ‘He was involved in an accident.’) </a:t>
            </a:r>
          </a:p>
          <a:p>
            <a:r>
              <a:rPr lang="en-US" dirty="0" smtClean="0"/>
              <a:t>Use </a:t>
            </a:r>
            <a:r>
              <a:rPr lang="en-US" b="1" dirty="0" smtClean="0"/>
              <a:t>connecting words and phrases </a:t>
            </a:r>
            <a:r>
              <a:rPr lang="en-US" dirty="0" smtClean="0"/>
              <a:t>(‘connectives’) to link ideas together clearly (e.g., however, therefore, subsequently) </a:t>
            </a:r>
          </a:p>
          <a:p>
            <a:endParaRPr lang="en-US" dirty="0" smtClean="0"/>
          </a:p>
          <a:p>
            <a:pPr>
              <a:buFontTx/>
              <a:buChar char="-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8229600" cy="54102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/>
              <a:t>Create a mental checklist of problems that you have with grammar</a:t>
            </a:r>
            <a:r>
              <a:rPr lang="en-US" dirty="0" smtClean="0"/>
              <a:t> and go through this when you review your response towards the end of the test: particular areas to focus on might include</a:t>
            </a:r>
          </a:p>
          <a:p>
            <a:pPr>
              <a:buFontTx/>
              <a:buChar char="-"/>
            </a:pPr>
            <a:r>
              <a:rPr lang="en-US" b="1" u="sng" dirty="0" smtClean="0"/>
              <a:t>number agreement</a:t>
            </a:r>
            <a:r>
              <a:rPr lang="en-US" dirty="0" smtClean="0"/>
              <a:t>, e.g. ‘The test result shows that …’, ‘There is no evidence …’, ‘He lives …’, ‘one of the side effects’</a:t>
            </a:r>
          </a:p>
          <a:p>
            <a:pPr>
              <a:buFontTx/>
              <a:buChar char="-"/>
            </a:pPr>
            <a:r>
              <a:rPr lang="en-US" b="1" u="sng" dirty="0" smtClean="0"/>
              <a:t>complete sentences</a:t>
            </a:r>
            <a:r>
              <a:rPr lang="en-US" dirty="0" smtClean="0"/>
              <a:t>, i.e., </a:t>
            </a:r>
            <a:r>
              <a:rPr lang="en-US" b="1" dirty="0" smtClean="0"/>
              <a:t>the main clause includes ‘subject and verb</a:t>
            </a:r>
            <a:r>
              <a:rPr lang="en-US" dirty="0" smtClean="0"/>
              <a:t>’, e.g., ‘On examination showed that …’ should be ‘Examination showed that …’ or ‘On examination it was found that …</a:t>
            </a:r>
          </a:p>
          <a:p>
            <a:pPr>
              <a:buFontTx/>
              <a:buChar char="-"/>
            </a:pPr>
            <a:r>
              <a:rPr lang="en-US" b="1" u="sng" dirty="0" smtClean="0"/>
              <a:t>gender agreement</a:t>
            </a:r>
            <a:r>
              <a:rPr lang="en-US" dirty="0" smtClean="0"/>
              <a:t>, e.g. ‘</a:t>
            </a:r>
            <a:r>
              <a:rPr lang="en-US" b="1" dirty="0" err="1" smtClean="0">
                <a:solidFill>
                  <a:srgbClr val="FF0000"/>
                </a:solidFill>
              </a:rPr>
              <a:t>Mr</a:t>
            </a:r>
            <a:r>
              <a:rPr lang="en-US" dirty="0" smtClean="0"/>
              <a:t> Jones and </a:t>
            </a:r>
            <a:r>
              <a:rPr lang="en-US" b="1" dirty="0" smtClean="0">
                <a:solidFill>
                  <a:srgbClr val="FF0000"/>
                </a:solidFill>
              </a:rPr>
              <a:t>her</a:t>
            </a:r>
            <a:r>
              <a:rPr lang="en-US" dirty="0" smtClean="0"/>
              <a:t> daughter’</a:t>
            </a:r>
          </a:p>
          <a:p>
            <a:pPr>
              <a:buFontTx/>
              <a:buChar char="-"/>
            </a:pPr>
            <a:r>
              <a:rPr lang="en-US" b="1" u="sng" dirty="0" smtClean="0"/>
              <a:t>tense agreement</a:t>
            </a:r>
            <a:r>
              <a:rPr lang="en-US" dirty="0" smtClean="0"/>
              <a:t>, e.g., ‘Examination on 15 May 2006 revealed she </a:t>
            </a:r>
            <a:r>
              <a:rPr lang="en-US" b="1" u="sng" dirty="0" smtClean="0">
                <a:solidFill>
                  <a:srgbClr val="FF0000"/>
                </a:solidFill>
              </a:rPr>
              <a:t>is</a:t>
            </a:r>
            <a:r>
              <a:rPr lang="en-US" dirty="0" smtClean="0"/>
              <a:t> overweight.’ [</a:t>
            </a:r>
            <a:r>
              <a:rPr lang="en-US" b="1" dirty="0" smtClean="0">
                <a:solidFill>
                  <a:srgbClr val="FF0000"/>
                </a:solidFill>
              </a:rPr>
              <a:t>creating confusion over whether she is still overweight at the time of writing</a:t>
            </a:r>
            <a:r>
              <a:rPr lang="en-US" dirty="0" smtClean="0"/>
              <a:t>]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Autofit/>
          </a:bodyPr>
          <a:lstStyle/>
          <a:p>
            <a:pPr algn="l"/>
            <a:r>
              <a:rPr lang="en-US" sz="3600" b="1" dirty="0" smtClean="0">
                <a:solidFill>
                  <a:srgbClr val="3333FF"/>
                </a:solidFill>
              </a:rPr>
              <a:t>Control of presentation features (spelling, punctuation and layout)</a:t>
            </a:r>
            <a:endParaRPr lang="en-US" sz="3600" b="1" dirty="0">
              <a:solidFill>
                <a:srgbClr val="3333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78363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Take care with the placement of </a:t>
            </a:r>
            <a:r>
              <a:rPr lang="en-US" b="1" dirty="0" smtClean="0"/>
              <a:t>commas</a:t>
            </a:r>
            <a:r>
              <a:rPr lang="en-US" dirty="0" smtClean="0"/>
              <a:t> and </a:t>
            </a:r>
            <a:r>
              <a:rPr lang="en-US" b="1" dirty="0" smtClean="0"/>
              <a:t>full stops</a:t>
            </a:r>
          </a:p>
          <a:p>
            <a:r>
              <a:rPr lang="en-US" dirty="0" smtClean="0"/>
              <a:t>Make sure there are </a:t>
            </a:r>
            <a:r>
              <a:rPr lang="en-US" b="1" dirty="0" smtClean="0"/>
              <a:t>enough</a:t>
            </a:r>
            <a:r>
              <a:rPr lang="en-US" dirty="0" smtClean="0"/>
              <a:t> – separating ideas into sentences</a:t>
            </a:r>
          </a:p>
          <a:p>
            <a:r>
              <a:rPr lang="en-US" dirty="0" smtClean="0"/>
              <a:t>Make sure there are </a:t>
            </a:r>
            <a:r>
              <a:rPr lang="en-US" b="1" dirty="0" smtClean="0"/>
              <a:t>not too many </a:t>
            </a:r>
            <a:r>
              <a:rPr lang="en-US" dirty="0" smtClean="0"/>
              <a:t>– keeping elements of the text meaningfully connected together </a:t>
            </a:r>
          </a:p>
          <a:p>
            <a:r>
              <a:rPr lang="en-US" b="1" dirty="0" smtClean="0"/>
              <a:t>Leave a blank line between paragraphs </a:t>
            </a:r>
            <a:r>
              <a:rPr lang="en-US" dirty="0" smtClean="0"/>
              <a:t>to show clearly the overall structure of the letter</a:t>
            </a:r>
          </a:p>
          <a:p>
            <a:r>
              <a:rPr lang="en-US" b="1" dirty="0" smtClean="0"/>
              <a:t>Don’t write on every other line </a:t>
            </a:r>
            <a:r>
              <a:rPr lang="en-US" dirty="0" smtClean="0"/>
              <a:t>– this does not assist the reader particularly</a:t>
            </a:r>
          </a:p>
          <a:p>
            <a:r>
              <a:rPr lang="en-US" dirty="0" smtClean="0"/>
              <a:t>Check for </a:t>
            </a:r>
            <a:r>
              <a:rPr lang="en-US" b="1" dirty="0" smtClean="0"/>
              <a:t>spelling mistakes</a:t>
            </a:r>
            <a:r>
              <a:rPr lang="en-US" dirty="0" smtClean="0"/>
              <a:t> and for </a:t>
            </a:r>
            <a:r>
              <a:rPr lang="en-US" b="1" dirty="0" smtClean="0"/>
              <a:t>spelling consistency </a:t>
            </a:r>
            <a:r>
              <a:rPr lang="en-US" dirty="0" smtClean="0"/>
              <a:t>through your writing (e.g., with a patient’s name)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b="1" dirty="0" smtClean="0">
                <a:solidFill>
                  <a:srgbClr val="3333FF"/>
                </a:solidFill>
              </a:rPr>
              <a:t>Control of presentation features (spelling, punctuation and layout)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3340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Remember that many of the words you write are also in the case notes – check that the spelling</a:t>
            </a:r>
          </a:p>
          <a:p>
            <a:r>
              <a:rPr lang="en-US" dirty="0" smtClean="0"/>
              <a:t>Be </a:t>
            </a:r>
            <a:r>
              <a:rPr lang="en-US" b="1" dirty="0" smtClean="0"/>
              <a:t>consistent in your spelling</a:t>
            </a:r>
            <a:r>
              <a:rPr lang="en-US" dirty="0" smtClean="0"/>
              <a:t>: alternative spelling conventions (e.g., </a:t>
            </a:r>
            <a:r>
              <a:rPr lang="en-US" b="1" dirty="0" smtClean="0">
                <a:solidFill>
                  <a:srgbClr val="FF0000"/>
                </a:solidFill>
              </a:rPr>
              <a:t>American or British English</a:t>
            </a:r>
            <a:r>
              <a:rPr lang="en-US" dirty="0" smtClean="0"/>
              <a:t>) are </a:t>
            </a:r>
            <a:r>
              <a:rPr lang="en-US" b="1" u="sng" dirty="0" smtClean="0"/>
              <a:t>acceptable as long as your use is consistent</a:t>
            </a:r>
          </a:p>
          <a:p>
            <a:r>
              <a:rPr lang="en-US" b="1" u="sng" dirty="0" smtClean="0"/>
              <a:t>Don’t use symbols </a:t>
            </a:r>
            <a:r>
              <a:rPr lang="en-US" dirty="0" smtClean="0"/>
              <a:t>as abbreviations in formal letters</a:t>
            </a:r>
          </a:p>
          <a:p>
            <a:r>
              <a:rPr lang="en-US" b="1" dirty="0" smtClean="0"/>
              <a:t>Avoid creating any negative impact </a:t>
            </a:r>
            <a:r>
              <a:rPr lang="en-US" dirty="0" smtClean="0"/>
              <a:t>on your reader through the presentation of the letter</a:t>
            </a:r>
          </a:p>
          <a:p>
            <a:r>
              <a:rPr lang="en-US" dirty="0" smtClean="0"/>
              <a:t>Use a </a:t>
            </a:r>
            <a:r>
              <a:rPr lang="en-US" b="1" dirty="0" smtClean="0"/>
              <a:t>clear layout</a:t>
            </a:r>
            <a:r>
              <a:rPr lang="en-US" dirty="0" smtClean="0"/>
              <a:t> to avoid any miscommunication</a:t>
            </a:r>
          </a:p>
          <a:p>
            <a:r>
              <a:rPr lang="en-US" dirty="0" smtClean="0"/>
              <a:t>Make sure poor handwriting </a:t>
            </a:r>
            <a:r>
              <a:rPr lang="en-US" b="1" dirty="0" smtClean="0"/>
              <a:t>does not confuse the reader</a:t>
            </a:r>
            <a:r>
              <a:rPr lang="en-US" dirty="0" smtClean="0"/>
              <a:t> over spelling and meaning</a:t>
            </a:r>
          </a:p>
          <a:p>
            <a:r>
              <a:rPr lang="en-US" b="1" dirty="0" smtClean="0"/>
              <a:t>Write legibly </a:t>
            </a:r>
            <a:r>
              <a:rPr lang="en-US" dirty="0" smtClean="0"/>
              <a:t>so the assessor can grade your response fairly using the set criteria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1725</Words>
  <Application>Microsoft Office PowerPoint</Application>
  <PresentationFormat>On-screen Show (4:3)</PresentationFormat>
  <Paragraphs>126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OET Writing Medicine</vt:lpstr>
      <vt:lpstr>OET Writing Medicine</vt:lpstr>
      <vt:lpstr>OET Writing Medicine</vt:lpstr>
      <vt:lpstr>Slide 4</vt:lpstr>
      <vt:lpstr>Slide 5</vt:lpstr>
      <vt:lpstr>OET Writing Medicine</vt:lpstr>
      <vt:lpstr>OET Writing Medicine</vt:lpstr>
      <vt:lpstr>OET Writing Medicine</vt:lpstr>
      <vt:lpstr>OET Writing Assessment Procedure</vt:lpstr>
      <vt:lpstr>OET Writing Assessment Criteria</vt:lpstr>
      <vt:lpstr>Overall task fulfillment</vt:lpstr>
      <vt:lpstr>Appropriateness of language</vt:lpstr>
      <vt:lpstr>Appropriateness of language</vt:lpstr>
      <vt:lpstr>Comprehension of stimulus</vt:lpstr>
      <vt:lpstr>Control of linguistic features (grammar and cohesion)</vt:lpstr>
      <vt:lpstr>Slide 16</vt:lpstr>
      <vt:lpstr>Slide 17</vt:lpstr>
      <vt:lpstr>Control of presentation features (spelling, punctuation and layout)</vt:lpstr>
      <vt:lpstr>Control of presentation features (spelling, punctuation and layout)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samer omar</dc:creator>
  <cp:lastModifiedBy>Dr. Samer Omar</cp:lastModifiedBy>
  <cp:revision>49</cp:revision>
  <dcterms:created xsi:type="dcterms:W3CDTF">2006-08-16T00:00:00Z</dcterms:created>
  <dcterms:modified xsi:type="dcterms:W3CDTF">2018-09-15T20:34:27Z</dcterms:modified>
</cp:coreProperties>
</file>